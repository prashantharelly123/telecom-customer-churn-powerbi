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</p:sldIdLst>
  <p:sldSz cx="18288000" cy="10287000"/>
  <p:notesSz cx="6858000" cy="9144000"/>
  <p:embeddedFontLst>
    <p:embeddedFont>
      <p:font typeface="League Spartan" charset="1" panose="00000800000000000000"/>
      <p:regular r:id="rId21"/>
    </p:embeddedFont>
    <p:embeddedFont>
      <p:font typeface="Calibri (MS) Bold" charset="1" panose="020F0702030404030204"/>
      <p:regular r:id="rId22"/>
    </p:embeddedFont>
    <p:embeddedFont>
      <p:font typeface="Times New Roman Bold" charset="1" panose="02020803070505020304"/>
      <p:regular r:id="rId23"/>
    </p:embeddedFont>
    <p:embeddedFont>
      <p:font typeface="Poppins Ultra-Bold" charset="1" panose="00000900000000000000"/>
      <p:regular r:id="rId24"/>
    </p:embeddedFont>
    <p:embeddedFont>
      <p:font typeface="Libre Baskerville" charset="1" panose="02000000000000000000"/>
      <p:regular r:id="rId2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fonts/font21.fntdata" Type="http://schemas.openxmlformats.org/officeDocument/2006/relationships/font"/><Relationship Id="rId22" Target="fonts/font22.fntdata" Type="http://schemas.openxmlformats.org/officeDocument/2006/relationships/font"/><Relationship Id="rId23" Target="fonts/font23.fntdata" Type="http://schemas.openxmlformats.org/officeDocument/2006/relationships/font"/><Relationship Id="rId24" Target="fonts/font24.fntdata" Type="http://schemas.openxmlformats.org/officeDocument/2006/relationships/font"/><Relationship Id="rId25" Target="fonts/font25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3.png" Type="http://schemas.openxmlformats.org/officeDocument/2006/relationships/image"/><Relationship Id="rId4" Target="../media/image4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3.png" Type="http://schemas.openxmlformats.org/officeDocument/2006/relationships/image"/><Relationship Id="rId4" Target="../media/image4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3.png" Type="http://schemas.openxmlformats.org/officeDocument/2006/relationships/image"/><Relationship Id="rId4" Target="../media/image4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3.png" Type="http://schemas.openxmlformats.org/officeDocument/2006/relationships/image"/><Relationship Id="rId4" Target="../media/image4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3.png" Type="http://schemas.openxmlformats.org/officeDocument/2006/relationships/image"/><Relationship Id="rId4" Target="../media/image4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3.png" Type="http://schemas.openxmlformats.org/officeDocument/2006/relationships/image"/><Relationship Id="rId4" Target="../media/image4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3.png" Type="http://schemas.openxmlformats.org/officeDocument/2006/relationships/image"/><Relationship Id="rId4" Target="../media/image4.sv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3.png" Type="http://schemas.openxmlformats.org/officeDocument/2006/relationships/image"/><Relationship Id="rId4" Target="../media/image4.sv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3.png" Type="http://schemas.openxmlformats.org/officeDocument/2006/relationships/image"/><Relationship Id="rId4" Target="../media/image4.sv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3.png" Type="http://schemas.openxmlformats.org/officeDocument/2006/relationships/image"/><Relationship Id="rId4" Target="../media/image4.sv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8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3221348" y="9277476"/>
            <a:ext cx="4838096" cy="1009524"/>
            <a:chOff x="0" y="0"/>
            <a:chExt cx="6450794" cy="134603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6450838" cy="1346073"/>
            </a:xfrm>
            <a:custGeom>
              <a:avLst/>
              <a:gdLst/>
              <a:ahLst/>
              <a:cxnLst/>
              <a:rect r="r" b="b" t="t" l="l"/>
              <a:pathLst>
                <a:path h="1346073" w="6450838">
                  <a:moveTo>
                    <a:pt x="0" y="0"/>
                  </a:moveTo>
                  <a:lnTo>
                    <a:pt x="6450838" y="0"/>
                  </a:lnTo>
                  <a:lnTo>
                    <a:pt x="6450838" y="1346073"/>
                  </a:lnTo>
                  <a:lnTo>
                    <a:pt x="0" y="13460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3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38988" y="0"/>
            <a:ext cx="18286222" cy="10041147"/>
            <a:chOff x="0" y="0"/>
            <a:chExt cx="24381630" cy="13388196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1588" cy="13388212"/>
            </a:xfrm>
            <a:custGeom>
              <a:avLst/>
              <a:gdLst/>
              <a:ahLst/>
              <a:cxnLst/>
              <a:rect r="r" b="b" t="t" l="l"/>
              <a:pathLst>
                <a:path h="13388212" w="24381588">
                  <a:moveTo>
                    <a:pt x="0" y="0"/>
                  </a:moveTo>
                  <a:lnTo>
                    <a:pt x="24381588" y="0"/>
                  </a:lnTo>
                  <a:lnTo>
                    <a:pt x="24381588" y="13388212"/>
                  </a:lnTo>
                  <a:lnTo>
                    <a:pt x="0" y="1338821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-2420"/>
              </a:stretch>
            </a:blipFill>
          </p:spPr>
        </p:sp>
      </p:grpSp>
      <p:sp>
        <p:nvSpPr>
          <p:cNvPr name="TextBox 6" id="6"/>
          <p:cNvSpPr txBox="true"/>
          <p:nvPr/>
        </p:nvSpPr>
        <p:spPr>
          <a:xfrm rot="0">
            <a:off x="2195065" y="5994972"/>
            <a:ext cx="13974068" cy="19627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680"/>
              </a:lnSpc>
              <a:spcBef>
                <a:spcPct val="0"/>
              </a:spcBef>
            </a:pPr>
            <a:r>
              <a:rPr lang="en-US" sz="6200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Telecom </a:t>
            </a:r>
            <a:r>
              <a:rPr lang="en-US" sz="6200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Customer Churn Analysis </a:t>
            </a:r>
          </a:p>
          <a:p>
            <a:pPr algn="ctr">
              <a:lnSpc>
                <a:spcPts val="7000"/>
              </a:lnSpc>
              <a:spcBef>
                <a:spcPct val="0"/>
              </a:spcBef>
            </a:pPr>
            <a:r>
              <a:rPr lang="en-US" sz="5000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 Using </a:t>
            </a:r>
            <a:r>
              <a:rPr lang="en-US" sz="5000">
                <a:solidFill>
                  <a:srgbClr val="FFBD59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Power BI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3221348" y="9277476"/>
            <a:ext cx="4838096" cy="1009524"/>
            <a:chOff x="0" y="0"/>
            <a:chExt cx="6450794" cy="134603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6450838" cy="1346073"/>
            </a:xfrm>
            <a:custGeom>
              <a:avLst/>
              <a:gdLst/>
              <a:ahLst/>
              <a:cxnLst/>
              <a:rect r="r" b="b" t="t" l="l"/>
              <a:pathLst>
                <a:path h="1346073" w="6450838">
                  <a:moveTo>
                    <a:pt x="0" y="0"/>
                  </a:moveTo>
                  <a:lnTo>
                    <a:pt x="6450838" y="0"/>
                  </a:lnTo>
                  <a:lnTo>
                    <a:pt x="6450838" y="1346073"/>
                  </a:lnTo>
                  <a:lnTo>
                    <a:pt x="0" y="13460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3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2833949" y="410256"/>
            <a:ext cx="15773400" cy="1988344"/>
            <a:chOff x="0" y="0"/>
            <a:chExt cx="21031200" cy="2651126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1031200" cy="2651126"/>
            </a:xfrm>
            <a:custGeom>
              <a:avLst/>
              <a:gdLst/>
              <a:ahLst/>
              <a:cxnLst/>
              <a:rect r="r" b="b" t="t" l="l"/>
              <a:pathLst>
                <a:path h="2651126" w="21031200">
                  <a:moveTo>
                    <a:pt x="0" y="0"/>
                  </a:moveTo>
                  <a:lnTo>
                    <a:pt x="21031200" y="0"/>
                  </a:lnTo>
                  <a:lnTo>
                    <a:pt x="21031200" y="2651126"/>
                  </a:lnTo>
                  <a:lnTo>
                    <a:pt x="0" y="2651126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66675"/>
              <a:ext cx="21031200" cy="271780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7128"/>
                </a:lnSpc>
              </a:pPr>
              <a:r>
                <a:rPr lang="en-US" b="true" sz="6600">
                  <a:solidFill>
                    <a:srgbClr val="FF00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Agenda  </a:t>
              </a:r>
            </a:p>
          </p:txBody>
        </p:sp>
      </p:grpSp>
      <p:sp>
        <p:nvSpPr>
          <p:cNvPr name="TextBox 7" id="7"/>
          <p:cNvSpPr txBox="true"/>
          <p:nvPr/>
        </p:nvSpPr>
        <p:spPr>
          <a:xfrm rot="0">
            <a:off x="2318164" y="2293826"/>
            <a:ext cx="17821865" cy="65153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888478" indent="-444239" lvl="1">
              <a:lnSpc>
                <a:spcPts val="5761"/>
              </a:lnSpc>
              <a:buFont typeface="Arial"/>
              <a:buChar char="•"/>
            </a:pPr>
            <a:r>
              <a:rPr lang="en-US" b="true" sz="4115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Project Overview</a:t>
            </a:r>
          </a:p>
          <a:p>
            <a:pPr algn="l" marL="888478" indent="-444239" lvl="1">
              <a:lnSpc>
                <a:spcPts val="5761"/>
              </a:lnSpc>
              <a:buFont typeface="Arial"/>
              <a:buChar char="•"/>
            </a:pPr>
            <a:r>
              <a:rPr lang="en-US" b="true" sz="4115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Data Source</a:t>
            </a:r>
          </a:p>
          <a:p>
            <a:pPr algn="l" marL="888478" indent="-444239" lvl="1">
              <a:lnSpc>
                <a:spcPts val="5761"/>
              </a:lnSpc>
              <a:buFont typeface="Arial"/>
              <a:buChar char="•"/>
            </a:pPr>
            <a:r>
              <a:rPr lang="en-US" b="true" sz="4115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Data Preparation</a:t>
            </a:r>
          </a:p>
          <a:p>
            <a:pPr algn="l" marL="888478" indent="-444239" lvl="1">
              <a:lnSpc>
                <a:spcPts val="5761"/>
              </a:lnSpc>
              <a:buFont typeface="Arial"/>
              <a:buChar char="•"/>
            </a:pPr>
            <a:r>
              <a:rPr lang="en-US" b="true" sz="4115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Dashboard Visualizations</a:t>
            </a:r>
          </a:p>
          <a:p>
            <a:pPr algn="l" marL="888478" indent="-444239" lvl="1">
              <a:lnSpc>
                <a:spcPts val="5761"/>
              </a:lnSpc>
              <a:buFont typeface="Arial"/>
              <a:buChar char="•"/>
            </a:pPr>
            <a:r>
              <a:rPr lang="en-US" b="true" sz="4115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Applications &amp; Recommendations</a:t>
            </a:r>
          </a:p>
          <a:p>
            <a:pPr algn="l" marL="888478" indent="-444239" lvl="1">
              <a:lnSpc>
                <a:spcPts val="5761"/>
              </a:lnSpc>
              <a:buFont typeface="Arial"/>
              <a:buChar char="•"/>
            </a:pPr>
            <a:r>
              <a:rPr lang="en-US" b="true" sz="4115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Conclusion</a:t>
            </a:r>
          </a:p>
          <a:p>
            <a:pPr algn="l" marL="888478" indent="-444239" lvl="1">
              <a:lnSpc>
                <a:spcPts val="5761"/>
              </a:lnSpc>
              <a:buFont typeface="Arial"/>
              <a:buChar char="•"/>
            </a:pPr>
            <a:r>
              <a:rPr lang="en-US" b="true" sz="4115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Any Queries</a:t>
            </a:r>
          </a:p>
          <a:p>
            <a:pPr algn="l">
              <a:lnSpc>
                <a:spcPts val="5761"/>
              </a:lnSpc>
            </a:pPr>
          </a:p>
          <a:p>
            <a:pPr algn="l">
              <a:lnSpc>
                <a:spcPts val="5761"/>
              </a:lnSpc>
            </a:pP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1028700" y="609420"/>
            <a:ext cx="1566889" cy="1590016"/>
          </a:xfrm>
          <a:custGeom>
            <a:avLst/>
            <a:gdLst/>
            <a:ahLst/>
            <a:cxnLst/>
            <a:rect r="r" b="b" t="t" l="l"/>
            <a:pathLst>
              <a:path h="1590016" w="1566889">
                <a:moveTo>
                  <a:pt x="0" y="0"/>
                </a:moveTo>
                <a:lnTo>
                  <a:pt x="1566889" y="0"/>
                </a:lnTo>
                <a:lnTo>
                  <a:pt x="1566889" y="1590017"/>
                </a:lnTo>
                <a:lnTo>
                  <a:pt x="0" y="159001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3221348" y="9277476"/>
            <a:ext cx="4838096" cy="1009524"/>
            <a:chOff x="0" y="0"/>
            <a:chExt cx="6450794" cy="134603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6450838" cy="1346073"/>
            </a:xfrm>
            <a:custGeom>
              <a:avLst/>
              <a:gdLst/>
              <a:ahLst/>
              <a:cxnLst/>
              <a:rect r="r" b="b" t="t" l="l"/>
              <a:pathLst>
                <a:path h="1346073" w="6450838">
                  <a:moveTo>
                    <a:pt x="0" y="0"/>
                  </a:moveTo>
                  <a:lnTo>
                    <a:pt x="6450838" y="0"/>
                  </a:lnTo>
                  <a:lnTo>
                    <a:pt x="6450838" y="1346073"/>
                  </a:lnTo>
                  <a:lnTo>
                    <a:pt x="0" y="13460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3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2833949" y="410256"/>
            <a:ext cx="15773400" cy="1988344"/>
            <a:chOff x="0" y="0"/>
            <a:chExt cx="21031200" cy="2651126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1031200" cy="2651126"/>
            </a:xfrm>
            <a:custGeom>
              <a:avLst/>
              <a:gdLst/>
              <a:ahLst/>
              <a:cxnLst/>
              <a:rect r="r" b="b" t="t" l="l"/>
              <a:pathLst>
                <a:path h="2651126" w="21031200">
                  <a:moveTo>
                    <a:pt x="0" y="0"/>
                  </a:moveTo>
                  <a:lnTo>
                    <a:pt x="21031200" y="0"/>
                  </a:lnTo>
                  <a:lnTo>
                    <a:pt x="21031200" y="2651126"/>
                  </a:lnTo>
                  <a:lnTo>
                    <a:pt x="0" y="2651126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66675"/>
              <a:ext cx="21031200" cy="271780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7128"/>
                </a:lnSpc>
              </a:pPr>
              <a:r>
                <a:rPr lang="en-US" b="true" sz="6600">
                  <a:solidFill>
                    <a:srgbClr val="FF00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Project Overview</a:t>
              </a:r>
            </a:p>
          </p:txBody>
        </p:sp>
      </p:grpSp>
      <p:sp>
        <p:nvSpPr>
          <p:cNvPr name="TextBox 7" id="7"/>
          <p:cNvSpPr txBox="true"/>
          <p:nvPr/>
        </p:nvSpPr>
        <p:spPr>
          <a:xfrm rot="0">
            <a:off x="1812144" y="2517443"/>
            <a:ext cx="15876977" cy="65107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25549" indent="-312774" lvl="1">
              <a:lnSpc>
                <a:spcPts val="4635"/>
              </a:lnSpc>
              <a:buFont typeface="Arial"/>
              <a:buChar char="•"/>
            </a:pPr>
            <a:r>
              <a:rPr lang="en-US" b="true" sz="2897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To analyze customer churn patterns and identify the key factors influencing customer attrition.</a:t>
            </a:r>
          </a:p>
          <a:p>
            <a:pPr algn="l" marL="625549" indent="-312774" lvl="1">
              <a:lnSpc>
                <a:spcPts val="4635"/>
              </a:lnSpc>
              <a:buFont typeface="Arial"/>
              <a:buChar char="•"/>
            </a:pPr>
            <a:r>
              <a:rPr lang="en-US" b="true" sz="2897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To understand customer behavior based on demographics, service subscriptions, and billing information.</a:t>
            </a:r>
          </a:p>
          <a:p>
            <a:pPr algn="l" marL="625549" indent="-312774" lvl="1">
              <a:lnSpc>
                <a:spcPts val="4635"/>
              </a:lnSpc>
              <a:buFont typeface="Arial"/>
              <a:buChar char="•"/>
            </a:pPr>
            <a:r>
              <a:rPr lang="en-US" b="true" sz="2897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To measure churn rate across various customer segments such as contract type, internet service, and payment method.</a:t>
            </a:r>
          </a:p>
          <a:p>
            <a:pPr algn="l" marL="625549" indent="-312774" lvl="1">
              <a:lnSpc>
                <a:spcPts val="4635"/>
              </a:lnSpc>
              <a:buFont typeface="Arial"/>
              <a:buChar char="•"/>
            </a:pPr>
            <a:r>
              <a:rPr lang="en-US" b="true" sz="2897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To visualize business performance using interactive Power BI dashboards and KPIs.</a:t>
            </a:r>
          </a:p>
          <a:p>
            <a:pPr algn="l" marL="625549" indent="-312774" lvl="1">
              <a:lnSpc>
                <a:spcPts val="4635"/>
              </a:lnSpc>
              <a:buFont typeface="Arial"/>
              <a:buChar char="•"/>
            </a:pPr>
            <a:r>
              <a:rPr lang="en-US" b="true" sz="2897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To predict churn risk and highlight high-risk customer segments for targeted retention strategies.</a:t>
            </a:r>
          </a:p>
          <a:p>
            <a:pPr algn="l" marL="692569" indent="-346285" lvl="1">
              <a:lnSpc>
                <a:spcPts val="5132"/>
              </a:lnSpc>
              <a:buFont typeface="Arial"/>
              <a:buChar char="•"/>
            </a:pPr>
            <a:r>
              <a:rPr lang="en-US" b="true" sz="3207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To support data-driven decisions that can reduce churn, increase customer satisfaction, and improve revenue stability.</a:t>
            </a:r>
          </a:p>
          <a:p>
            <a:pPr algn="l">
              <a:lnSpc>
                <a:spcPts val="4635"/>
              </a:lnSpc>
            </a:pP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1028700" y="609420"/>
            <a:ext cx="1566889" cy="1590016"/>
          </a:xfrm>
          <a:custGeom>
            <a:avLst/>
            <a:gdLst/>
            <a:ahLst/>
            <a:cxnLst/>
            <a:rect r="r" b="b" t="t" l="l"/>
            <a:pathLst>
              <a:path h="1590016" w="1566889">
                <a:moveTo>
                  <a:pt x="0" y="0"/>
                </a:moveTo>
                <a:lnTo>
                  <a:pt x="1566889" y="0"/>
                </a:lnTo>
                <a:lnTo>
                  <a:pt x="1566889" y="1590017"/>
                </a:lnTo>
                <a:lnTo>
                  <a:pt x="0" y="159001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3221348" y="9277476"/>
            <a:ext cx="4838096" cy="1009524"/>
            <a:chOff x="0" y="0"/>
            <a:chExt cx="6450794" cy="134603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6450838" cy="1346073"/>
            </a:xfrm>
            <a:custGeom>
              <a:avLst/>
              <a:gdLst/>
              <a:ahLst/>
              <a:cxnLst/>
              <a:rect r="r" b="b" t="t" l="l"/>
              <a:pathLst>
                <a:path h="1346073" w="6450838">
                  <a:moveTo>
                    <a:pt x="0" y="0"/>
                  </a:moveTo>
                  <a:lnTo>
                    <a:pt x="6450838" y="0"/>
                  </a:lnTo>
                  <a:lnTo>
                    <a:pt x="6450838" y="1346073"/>
                  </a:lnTo>
                  <a:lnTo>
                    <a:pt x="0" y="13460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3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2833949" y="410256"/>
            <a:ext cx="15773400" cy="1988344"/>
            <a:chOff x="0" y="0"/>
            <a:chExt cx="21031200" cy="2651126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1031200" cy="2651126"/>
            </a:xfrm>
            <a:custGeom>
              <a:avLst/>
              <a:gdLst/>
              <a:ahLst/>
              <a:cxnLst/>
              <a:rect r="r" b="b" t="t" l="l"/>
              <a:pathLst>
                <a:path h="2651126" w="21031200">
                  <a:moveTo>
                    <a:pt x="0" y="0"/>
                  </a:moveTo>
                  <a:lnTo>
                    <a:pt x="21031200" y="0"/>
                  </a:lnTo>
                  <a:lnTo>
                    <a:pt x="21031200" y="2651126"/>
                  </a:lnTo>
                  <a:lnTo>
                    <a:pt x="0" y="2651126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66675"/>
              <a:ext cx="21031200" cy="271780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7128"/>
                </a:lnSpc>
              </a:pPr>
              <a:r>
                <a:rPr lang="en-US" b="true" sz="6600">
                  <a:solidFill>
                    <a:srgbClr val="FF00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Data Source</a:t>
              </a:r>
            </a:p>
          </p:txBody>
        </p:sp>
      </p:grpSp>
      <p:sp>
        <p:nvSpPr>
          <p:cNvPr name="TextBox 7" id="7"/>
          <p:cNvSpPr txBox="true"/>
          <p:nvPr/>
        </p:nvSpPr>
        <p:spPr>
          <a:xfrm rot="0">
            <a:off x="1812144" y="2469659"/>
            <a:ext cx="20960428" cy="33534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04519" indent="-302260" lvl="1">
              <a:lnSpc>
                <a:spcPts val="4479"/>
              </a:lnSpc>
              <a:buFont typeface="Arial"/>
              <a:buChar char="•"/>
            </a:pPr>
            <a:r>
              <a:rPr lang="en-US" b="true" sz="2799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Dataset Name: Telco Customer Churn Dataset</a:t>
            </a:r>
          </a:p>
          <a:p>
            <a:pPr algn="l" marL="604519" indent="-302260" lvl="1">
              <a:lnSpc>
                <a:spcPts val="4479"/>
              </a:lnSpc>
              <a:buFont typeface="Arial"/>
              <a:buChar char="•"/>
            </a:pPr>
            <a:r>
              <a:rPr lang="en-US" b="true" sz="2799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Source: Kaggle</a:t>
            </a:r>
          </a:p>
          <a:p>
            <a:pPr algn="l" marL="604519" indent="-302260" lvl="1">
              <a:lnSpc>
                <a:spcPts val="4479"/>
              </a:lnSpc>
              <a:buFont typeface="Arial"/>
              <a:buChar char="•"/>
            </a:pPr>
            <a:r>
              <a:rPr lang="en-US" b="true" sz="2799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File Type: Excel file</a:t>
            </a:r>
          </a:p>
          <a:p>
            <a:pPr algn="l" marL="604519" indent="-302260" lvl="1">
              <a:lnSpc>
                <a:spcPts val="4479"/>
              </a:lnSpc>
              <a:buFont typeface="Arial"/>
              <a:buChar char="•"/>
            </a:pPr>
            <a:r>
              <a:rPr lang="en-US" b="true" sz="2799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Total Records: 7,043 customers</a:t>
            </a:r>
          </a:p>
          <a:p>
            <a:pPr algn="l" marL="604519" indent="-302260" lvl="1">
              <a:lnSpc>
                <a:spcPts val="4479"/>
              </a:lnSpc>
              <a:buFont typeface="Arial"/>
              <a:buChar char="•"/>
            </a:pPr>
            <a:r>
              <a:rPr lang="en-US" b="true" sz="2799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Total Columns: 21 fields</a:t>
            </a:r>
          </a:p>
          <a:p>
            <a:pPr algn="l">
              <a:lnSpc>
                <a:spcPts val="4479"/>
              </a:lnSpc>
            </a:pP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1028700" y="609420"/>
            <a:ext cx="1566889" cy="1590016"/>
          </a:xfrm>
          <a:custGeom>
            <a:avLst/>
            <a:gdLst/>
            <a:ahLst/>
            <a:cxnLst/>
            <a:rect r="r" b="b" t="t" l="l"/>
            <a:pathLst>
              <a:path h="1590016" w="1566889">
                <a:moveTo>
                  <a:pt x="0" y="0"/>
                </a:moveTo>
                <a:lnTo>
                  <a:pt x="1566889" y="0"/>
                </a:lnTo>
                <a:lnTo>
                  <a:pt x="1566889" y="1590017"/>
                </a:lnTo>
                <a:lnTo>
                  <a:pt x="0" y="159001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3221348" y="9277476"/>
            <a:ext cx="4838096" cy="1009524"/>
            <a:chOff x="0" y="0"/>
            <a:chExt cx="6450794" cy="134603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6450838" cy="1346073"/>
            </a:xfrm>
            <a:custGeom>
              <a:avLst/>
              <a:gdLst/>
              <a:ahLst/>
              <a:cxnLst/>
              <a:rect r="r" b="b" t="t" l="l"/>
              <a:pathLst>
                <a:path h="1346073" w="6450838">
                  <a:moveTo>
                    <a:pt x="0" y="0"/>
                  </a:moveTo>
                  <a:lnTo>
                    <a:pt x="6450838" y="0"/>
                  </a:lnTo>
                  <a:lnTo>
                    <a:pt x="6450838" y="1346073"/>
                  </a:lnTo>
                  <a:lnTo>
                    <a:pt x="0" y="13460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3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2833949" y="410256"/>
            <a:ext cx="15773400" cy="1988344"/>
            <a:chOff x="0" y="0"/>
            <a:chExt cx="21031200" cy="2651126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1031200" cy="2651126"/>
            </a:xfrm>
            <a:custGeom>
              <a:avLst/>
              <a:gdLst/>
              <a:ahLst/>
              <a:cxnLst/>
              <a:rect r="r" b="b" t="t" l="l"/>
              <a:pathLst>
                <a:path h="2651126" w="21031200">
                  <a:moveTo>
                    <a:pt x="0" y="0"/>
                  </a:moveTo>
                  <a:lnTo>
                    <a:pt x="21031200" y="0"/>
                  </a:lnTo>
                  <a:lnTo>
                    <a:pt x="21031200" y="2651126"/>
                  </a:lnTo>
                  <a:lnTo>
                    <a:pt x="0" y="2651126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66675"/>
              <a:ext cx="21031200" cy="271780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7128"/>
                </a:lnSpc>
              </a:pPr>
              <a:r>
                <a:rPr lang="en-US" b="true" sz="6600">
                  <a:solidFill>
                    <a:srgbClr val="FF00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Data Preparation</a:t>
              </a:r>
            </a:p>
          </p:txBody>
        </p:sp>
      </p:grpSp>
      <p:sp>
        <p:nvSpPr>
          <p:cNvPr name="TextBox 7" id="7"/>
          <p:cNvSpPr txBox="true"/>
          <p:nvPr/>
        </p:nvSpPr>
        <p:spPr>
          <a:xfrm rot="0">
            <a:off x="1582906" y="2274776"/>
            <a:ext cx="20960428" cy="72872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04519" indent="-302260" lvl="1">
              <a:lnSpc>
                <a:spcPts val="4479"/>
              </a:lnSpc>
              <a:buFont typeface="Arial"/>
              <a:buChar char="•"/>
            </a:pPr>
            <a:r>
              <a:rPr lang="en-US" b="true" sz="2799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Imported dataset into Power BI Desktop from Excel file.</a:t>
            </a:r>
          </a:p>
          <a:p>
            <a:pPr algn="l" marL="604519" indent="-302260" lvl="1">
              <a:lnSpc>
                <a:spcPts val="4479"/>
              </a:lnSpc>
              <a:buFont typeface="Arial"/>
              <a:buChar char="•"/>
            </a:pPr>
            <a:r>
              <a:rPr lang="en-US" b="true" sz="2799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Performed data cleaning using Power Query Editor to ensure accuracy and consistency.</a:t>
            </a:r>
          </a:p>
          <a:p>
            <a:pPr algn="l" marL="604519" indent="-302260" lvl="1">
              <a:lnSpc>
                <a:spcPts val="4479"/>
              </a:lnSpc>
              <a:buFont typeface="Arial"/>
              <a:buChar char="•"/>
            </a:pPr>
            <a:r>
              <a:rPr lang="en-US" b="true" sz="2799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Checked and removed null values in columns like TotalCharges and replaced blanks where necessary.</a:t>
            </a:r>
          </a:p>
          <a:p>
            <a:pPr algn="l" marL="604519" indent="-302260" lvl="1">
              <a:lnSpc>
                <a:spcPts val="4479"/>
              </a:lnSpc>
              <a:buFont typeface="Arial"/>
              <a:buChar char="•"/>
            </a:pPr>
            <a:r>
              <a:rPr lang="en-US" b="true" sz="2799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Converted TotalCharges from text to numeric.</a:t>
            </a:r>
          </a:p>
          <a:p>
            <a:pPr algn="l" marL="604519" indent="-302260" lvl="1">
              <a:lnSpc>
                <a:spcPts val="4479"/>
              </a:lnSpc>
              <a:buFont typeface="Arial"/>
              <a:buChar char="•"/>
            </a:pPr>
            <a:r>
              <a:rPr lang="en-US" b="true" sz="2799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Ensured SeniorCitizen, Churn, and Partner were properly categorized as Yes/No or binary fields.</a:t>
            </a:r>
          </a:p>
          <a:p>
            <a:pPr algn="l" marL="604519" indent="-302260" lvl="1">
              <a:lnSpc>
                <a:spcPts val="4479"/>
              </a:lnSpc>
              <a:buFont typeface="Arial"/>
              <a:buChar char="•"/>
            </a:pPr>
            <a:r>
              <a:rPr lang="en-US" b="true" sz="2799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Created calculated columns and DAX measures for:</a:t>
            </a:r>
          </a:p>
          <a:p>
            <a:pPr algn="l" marL="604519" indent="-302260" lvl="1">
              <a:lnSpc>
                <a:spcPts val="4479"/>
              </a:lnSpc>
              <a:buFont typeface="Arial"/>
              <a:buChar char="•"/>
            </a:pPr>
            <a:r>
              <a:rPr lang="en-US" b="true" sz="2799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Churn Rate, Average Monthly Charges, Average Tenure, Total Revenue</a:t>
            </a:r>
          </a:p>
          <a:p>
            <a:pPr algn="l" marL="604519" indent="-302260" lvl="1">
              <a:lnSpc>
                <a:spcPts val="4479"/>
              </a:lnSpc>
              <a:buFont typeface="Arial"/>
              <a:buChar char="•"/>
            </a:pPr>
            <a:r>
              <a:rPr lang="en-US" b="true" sz="2799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Standardized categorical values ( No internet service changed to No for clarity).</a:t>
            </a:r>
          </a:p>
          <a:p>
            <a:pPr algn="l" marL="604519" indent="-302260" lvl="1">
              <a:lnSpc>
                <a:spcPts val="4479"/>
              </a:lnSpc>
              <a:buFont typeface="Arial"/>
              <a:buChar char="•"/>
            </a:pPr>
            <a:r>
              <a:rPr lang="en-US" b="true" sz="2799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Added new derived fields for advanced analysis such as:</a:t>
            </a:r>
          </a:p>
          <a:p>
            <a:pPr algn="l" marL="604519" indent="-302260" lvl="1">
              <a:lnSpc>
                <a:spcPts val="4479"/>
              </a:lnSpc>
              <a:buFont typeface="Arial"/>
              <a:buChar char="•"/>
            </a:pPr>
            <a:r>
              <a:rPr lang="en-US" b="true" sz="2799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Total Services Subscribed (count of services per customer)</a:t>
            </a:r>
          </a:p>
          <a:p>
            <a:pPr algn="l" marL="604519" indent="-302260" lvl="1">
              <a:lnSpc>
                <a:spcPts val="4479"/>
              </a:lnSpc>
              <a:buFont typeface="Arial"/>
              <a:buChar char="•"/>
            </a:pPr>
            <a:r>
              <a:rPr lang="en-US" b="true" sz="2799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Validated the dataset to ensure no duplicates or mismatched entries.</a:t>
            </a:r>
          </a:p>
          <a:p>
            <a:pPr algn="l" marL="604519" indent="-302260" lvl="1">
              <a:lnSpc>
                <a:spcPts val="4479"/>
              </a:lnSpc>
              <a:buFont typeface="Arial"/>
              <a:buChar char="•"/>
            </a:pPr>
            <a:r>
              <a:rPr lang="en-US" b="true" sz="2799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Loaded the cleaned data into the Power BI Model for visualization and analysis.</a:t>
            </a:r>
          </a:p>
          <a:p>
            <a:pPr algn="l">
              <a:lnSpc>
                <a:spcPts val="4479"/>
              </a:lnSpc>
            </a:pP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1028700" y="609420"/>
            <a:ext cx="1566889" cy="1590016"/>
          </a:xfrm>
          <a:custGeom>
            <a:avLst/>
            <a:gdLst/>
            <a:ahLst/>
            <a:cxnLst/>
            <a:rect r="r" b="b" t="t" l="l"/>
            <a:pathLst>
              <a:path h="1590016" w="1566889">
                <a:moveTo>
                  <a:pt x="0" y="0"/>
                </a:moveTo>
                <a:lnTo>
                  <a:pt x="1566889" y="0"/>
                </a:lnTo>
                <a:lnTo>
                  <a:pt x="1566889" y="1590017"/>
                </a:lnTo>
                <a:lnTo>
                  <a:pt x="0" y="159001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3221348" y="9277476"/>
            <a:ext cx="4838096" cy="1009524"/>
            <a:chOff x="0" y="0"/>
            <a:chExt cx="6450794" cy="134603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6450838" cy="1346073"/>
            </a:xfrm>
            <a:custGeom>
              <a:avLst/>
              <a:gdLst/>
              <a:ahLst/>
              <a:cxnLst/>
              <a:rect r="r" b="b" t="t" l="l"/>
              <a:pathLst>
                <a:path h="1346073" w="6450838">
                  <a:moveTo>
                    <a:pt x="0" y="0"/>
                  </a:moveTo>
                  <a:lnTo>
                    <a:pt x="6450838" y="0"/>
                  </a:lnTo>
                  <a:lnTo>
                    <a:pt x="6450838" y="1346073"/>
                  </a:lnTo>
                  <a:lnTo>
                    <a:pt x="0" y="13460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3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2833949" y="410256"/>
            <a:ext cx="15773400" cy="1988344"/>
            <a:chOff x="0" y="0"/>
            <a:chExt cx="21031200" cy="2651126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1031200" cy="2651126"/>
            </a:xfrm>
            <a:custGeom>
              <a:avLst/>
              <a:gdLst/>
              <a:ahLst/>
              <a:cxnLst/>
              <a:rect r="r" b="b" t="t" l="l"/>
              <a:pathLst>
                <a:path h="2651126" w="21031200">
                  <a:moveTo>
                    <a:pt x="0" y="0"/>
                  </a:moveTo>
                  <a:lnTo>
                    <a:pt x="21031200" y="0"/>
                  </a:lnTo>
                  <a:lnTo>
                    <a:pt x="21031200" y="2651126"/>
                  </a:lnTo>
                  <a:lnTo>
                    <a:pt x="0" y="2651126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66675"/>
              <a:ext cx="21031200" cy="271780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7128"/>
                </a:lnSpc>
              </a:pPr>
              <a:r>
                <a:rPr lang="en-US" b="true" sz="6600">
                  <a:solidFill>
                    <a:srgbClr val="FF00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Dashboard Visualizations</a:t>
              </a:r>
            </a:p>
          </p:txBody>
        </p:sp>
      </p:grpSp>
      <p:sp>
        <p:nvSpPr>
          <p:cNvPr name="TextBox 7" id="7"/>
          <p:cNvSpPr txBox="true"/>
          <p:nvPr/>
        </p:nvSpPr>
        <p:spPr>
          <a:xfrm rot="0">
            <a:off x="1611561" y="2470785"/>
            <a:ext cx="20960428" cy="51930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99"/>
              </a:lnSpc>
            </a:pPr>
            <a:r>
              <a:rPr lang="en-US" sz="3499" b="tru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1. Customer Demographics Dashboard</a:t>
            </a:r>
          </a:p>
          <a:p>
            <a:pPr algn="l" marL="604519" indent="-302260" lvl="1">
              <a:lnSpc>
                <a:spcPts val="4479"/>
              </a:lnSpc>
              <a:buFont typeface="Arial"/>
              <a:buChar char="•"/>
            </a:pPr>
            <a:r>
              <a:rPr lang="en-US" b="true" sz="2799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Visuals Used:</a:t>
            </a:r>
          </a:p>
          <a:p>
            <a:pPr algn="l" marL="604519" indent="-302260" lvl="1">
              <a:lnSpc>
                <a:spcPts val="4479"/>
              </a:lnSpc>
              <a:buFont typeface="Arial"/>
              <a:buChar char="•"/>
            </a:pPr>
            <a:r>
              <a:rPr lang="en-US" b="true" sz="2799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Donut Chart → Gender distribution</a:t>
            </a:r>
          </a:p>
          <a:p>
            <a:pPr algn="l" marL="604519" indent="-302260" lvl="1">
              <a:lnSpc>
                <a:spcPts val="4479"/>
              </a:lnSpc>
              <a:buFont typeface="Arial"/>
              <a:buChar char="•"/>
            </a:pPr>
            <a:r>
              <a:rPr lang="en-US" b="true" sz="2799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Bar Chart → Senior citizen vs. non-senior churn comparison</a:t>
            </a:r>
          </a:p>
          <a:p>
            <a:pPr algn="l" marL="604519" indent="-302260" lvl="1">
              <a:lnSpc>
                <a:spcPts val="4479"/>
              </a:lnSpc>
              <a:buFont typeface="Arial"/>
              <a:buChar char="•"/>
            </a:pPr>
            <a:r>
              <a:rPr lang="en-US" b="true" sz="2799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Column Chart → Tenure segmentation</a:t>
            </a:r>
          </a:p>
          <a:p>
            <a:pPr algn="l" marL="604519" indent="-302260" lvl="1">
              <a:lnSpc>
                <a:spcPts val="4479"/>
              </a:lnSpc>
              <a:buFont typeface="Arial"/>
              <a:buChar char="•"/>
            </a:pPr>
            <a:r>
              <a:rPr lang="en-US" b="true" sz="2799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Line Chart → Churn rate across tenure groups</a:t>
            </a:r>
          </a:p>
          <a:p>
            <a:pPr algn="l" marL="604519" indent="-302260" lvl="1">
              <a:lnSpc>
                <a:spcPts val="4479"/>
              </a:lnSpc>
              <a:buFont typeface="Arial"/>
              <a:buChar char="•"/>
            </a:pPr>
            <a:r>
              <a:rPr lang="en-US" b="true" sz="2799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Cards → Total Customers, Churned Customers, Churn Rate, Avg. Tenure, Avg. Monthly Charges</a:t>
            </a:r>
          </a:p>
          <a:p>
            <a:pPr algn="l" marL="604519" indent="-302260" lvl="1">
              <a:lnSpc>
                <a:spcPts val="4479"/>
              </a:lnSpc>
              <a:buFont typeface="Arial"/>
              <a:buChar char="•"/>
            </a:pPr>
            <a:r>
              <a:rPr lang="en-US" b="true" sz="2799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Purpose: Understand customer profile and churn behavior by demographics.</a:t>
            </a:r>
          </a:p>
          <a:p>
            <a:pPr algn="l">
              <a:lnSpc>
                <a:spcPts val="4479"/>
              </a:lnSpc>
            </a:pP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1028700" y="609420"/>
            <a:ext cx="1566889" cy="1590016"/>
          </a:xfrm>
          <a:custGeom>
            <a:avLst/>
            <a:gdLst/>
            <a:ahLst/>
            <a:cxnLst/>
            <a:rect r="r" b="b" t="t" l="l"/>
            <a:pathLst>
              <a:path h="1590016" w="1566889">
                <a:moveTo>
                  <a:pt x="0" y="0"/>
                </a:moveTo>
                <a:lnTo>
                  <a:pt x="1566889" y="0"/>
                </a:lnTo>
                <a:lnTo>
                  <a:pt x="1566889" y="1590017"/>
                </a:lnTo>
                <a:lnTo>
                  <a:pt x="0" y="159001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3221348" y="9277476"/>
            <a:ext cx="4838096" cy="1009524"/>
            <a:chOff x="0" y="0"/>
            <a:chExt cx="6450794" cy="134603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6450838" cy="1346073"/>
            </a:xfrm>
            <a:custGeom>
              <a:avLst/>
              <a:gdLst/>
              <a:ahLst/>
              <a:cxnLst/>
              <a:rect r="r" b="b" t="t" l="l"/>
              <a:pathLst>
                <a:path h="1346073" w="6450838">
                  <a:moveTo>
                    <a:pt x="0" y="0"/>
                  </a:moveTo>
                  <a:lnTo>
                    <a:pt x="6450838" y="0"/>
                  </a:lnTo>
                  <a:lnTo>
                    <a:pt x="6450838" y="1346073"/>
                  </a:lnTo>
                  <a:lnTo>
                    <a:pt x="0" y="13460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3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2833949" y="410256"/>
            <a:ext cx="15773400" cy="1988344"/>
            <a:chOff x="0" y="0"/>
            <a:chExt cx="21031200" cy="2651126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1031200" cy="2651126"/>
            </a:xfrm>
            <a:custGeom>
              <a:avLst/>
              <a:gdLst/>
              <a:ahLst/>
              <a:cxnLst/>
              <a:rect r="r" b="b" t="t" l="l"/>
              <a:pathLst>
                <a:path h="2651126" w="21031200">
                  <a:moveTo>
                    <a:pt x="0" y="0"/>
                  </a:moveTo>
                  <a:lnTo>
                    <a:pt x="21031200" y="0"/>
                  </a:lnTo>
                  <a:lnTo>
                    <a:pt x="21031200" y="2651126"/>
                  </a:lnTo>
                  <a:lnTo>
                    <a:pt x="0" y="2651126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66675"/>
              <a:ext cx="21031200" cy="271780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7128"/>
                </a:lnSpc>
              </a:pPr>
              <a:r>
                <a:rPr lang="en-US" b="true" sz="6600">
                  <a:solidFill>
                    <a:srgbClr val="FF00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Dashboard Visualizations</a:t>
              </a:r>
            </a:p>
          </p:txBody>
        </p:sp>
      </p:grpSp>
      <p:sp>
        <p:nvSpPr>
          <p:cNvPr name="TextBox 7" id="7"/>
          <p:cNvSpPr txBox="true"/>
          <p:nvPr/>
        </p:nvSpPr>
        <p:spPr>
          <a:xfrm rot="0">
            <a:off x="1611561" y="2470785"/>
            <a:ext cx="20960428" cy="57550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99"/>
              </a:lnSpc>
            </a:pPr>
            <a:r>
              <a:rPr lang="en-US" sz="3499" b="tru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2. Service Subscription Dashboard</a:t>
            </a:r>
          </a:p>
          <a:p>
            <a:pPr algn="l" marL="604519" indent="-302260" lvl="1">
              <a:lnSpc>
                <a:spcPts val="4479"/>
              </a:lnSpc>
              <a:buFont typeface="Arial"/>
              <a:buChar char="•"/>
            </a:pPr>
            <a:r>
              <a:rPr lang="en-US" b="true" sz="2799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Visuals Used:</a:t>
            </a:r>
          </a:p>
          <a:p>
            <a:pPr algn="l" marL="604519" indent="-302260" lvl="1">
              <a:lnSpc>
                <a:spcPts val="4479"/>
              </a:lnSpc>
              <a:buFont typeface="Arial"/>
              <a:buChar char="•"/>
            </a:pPr>
            <a:r>
              <a:rPr lang="en-US" b="true" sz="2799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Stacked Column Chart → Phone service and internet service usage</a:t>
            </a:r>
          </a:p>
          <a:p>
            <a:pPr algn="l" marL="604519" indent="-302260" lvl="1">
              <a:lnSpc>
                <a:spcPts val="4479"/>
              </a:lnSpc>
              <a:buFont typeface="Arial"/>
              <a:buChar char="•"/>
            </a:pPr>
            <a:r>
              <a:rPr lang="en-US" b="true" sz="2799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Funnel Chart → Churn rate by Internet Service Type (DSL, Fiber Optic, No Internet)</a:t>
            </a:r>
          </a:p>
          <a:p>
            <a:pPr algn="l" marL="604519" indent="-302260" lvl="1">
              <a:lnSpc>
                <a:spcPts val="4479"/>
              </a:lnSpc>
              <a:buFont typeface="Arial"/>
              <a:buChar char="•"/>
            </a:pPr>
            <a:r>
              <a:rPr lang="en-US" b="true" sz="2799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Clustered Bar Chart → Add-on service usage by churned customers</a:t>
            </a:r>
          </a:p>
          <a:p>
            <a:pPr algn="l" marL="604519" indent="-302260" lvl="1">
              <a:lnSpc>
                <a:spcPts val="4479"/>
              </a:lnSpc>
              <a:buFont typeface="Arial"/>
              <a:buChar char="•"/>
            </a:pPr>
            <a:r>
              <a:rPr lang="en-US" b="true" sz="2799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Scatter Plot → Correlation between number of services and churn</a:t>
            </a:r>
          </a:p>
          <a:p>
            <a:pPr algn="l" marL="604519" indent="-302260" lvl="1">
              <a:lnSpc>
                <a:spcPts val="4479"/>
              </a:lnSpc>
              <a:buFont typeface="Arial"/>
              <a:buChar char="•"/>
            </a:pPr>
            <a:r>
              <a:rPr lang="en-US" b="true" sz="2799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Pie Chart → Fiber vs. DSL vs. No Internet customers</a:t>
            </a:r>
          </a:p>
          <a:p>
            <a:pPr algn="l" marL="604519" indent="-302260" lvl="1">
              <a:lnSpc>
                <a:spcPts val="4479"/>
              </a:lnSpc>
              <a:buFont typeface="Arial"/>
              <a:buChar char="•"/>
            </a:pPr>
            <a:r>
              <a:rPr lang="en-US" b="true" sz="2799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Slicers → Gender, Senior Citizen, Internet Service, Contract Type</a:t>
            </a:r>
          </a:p>
          <a:p>
            <a:pPr algn="l" marL="604519" indent="-302260" lvl="1">
              <a:lnSpc>
                <a:spcPts val="4479"/>
              </a:lnSpc>
              <a:buFont typeface="Arial"/>
              <a:buChar char="•"/>
            </a:pPr>
            <a:r>
              <a:rPr lang="en-US" b="true" sz="2799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Purpose: Identify which services and combinations impact churn the most.</a:t>
            </a:r>
          </a:p>
          <a:p>
            <a:pPr algn="l">
              <a:lnSpc>
                <a:spcPts val="4479"/>
              </a:lnSpc>
            </a:pP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1028700" y="609420"/>
            <a:ext cx="1566889" cy="1590016"/>
          </a:xfrm>
          <a:custGeom>
            <a:avLst/>
            <a:gdLst/>
            <a:ahLst/>
            <a:cxnLst/>
            <a:rect r="r" b="b" t="t" l="l"/>
            <a:pathLst>
              <a:path h="1590016" w="1566889">
                <a:moveTo>
                  <a:pt x="0" y="0"/>
                </a:moveTo>
                <a:lnTo>
                  <a:pt x="1566889" y="0"/>
                </a:lnTo>
                <a:lnTo>
                  <a:pt x="1566889" y="1590017"/>
                </a:lnTo>
                <a:lnTo>
                  <a:pt x="0" y="159001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3221348" y="9277476"/>
            <a:ext cx="4838096" cy="1009524"/>
            <a:chOff x="0" y="0"/>
            <a:chExt cx="6450794" cy="134603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6450838" cy="1346073"/>
            </a:xfrm>
            <a:custGeom>
              <a:avLst/>
              <a:gdLst/>
              <a:ahLst/>
              <a:cxnLst/>
              <a:rect r="r" b="b" t="t" l="l"/>
              <a:pathLst>
                <a:path h="1346073" w="6450838">
                  <a:moveTo>
                    <a:pt x="0" y="0"/>
                  </a:moveTo>
                  <a:lnTo>
                    <a:pt x="6450838" y="0"/>
                  </a:lnTo>
                  <a:lnTo>
                    <a:pt x="6450838" y="1346073"/>
                  </a:lnTo>
                  <a:lnTo>
                    <a:pt x="0" y="13460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3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2833949" y="410256"/>
            <a:ext cx="15773400" cy="1988344"/>
            <a:chOff x="0" y="0"/>
            <a:chExt cx="21031200" cy="2651126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1031200" cy="2651126"/>
            </a:xfrm>
            <a:custGeom>
              <a:avLst/>
              <a:gdLst/>
              <a:ahLst/>
              <a:cxnLst/>
              <a:rect r="r" b="b" t="t" l="l"/>
              <a:pathLst>
                <a:path h="2651126" w="21031200">
                  <a:moveTo>
                    <a:pt x="0" y="0"/>
                  </a:moveTo>
                  <a:lnTo>
                    <a:pt x="21031200" y="0"/>
                  </a:lnTo>
                  <a:lnTo>
                    <a:pt x="21031200" y="2651126"/>
                  </a:lnTo>
                  <a:lnTo>
                    <a:pt x="0" y="2651126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66675"/>
              <a:ext cx="21031200" cy="271780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7128"/>
                </a:lnSpc>
              </a:pPr>
              <a:r>
                <a:rPr lang="en-US" b="true" sz="6600">
                  <a:solidFill>
                    <a:srgbClr val="FF00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Dashboard Visualizations</a:t>
              </a:r>
            </a:p>
          </p:txBody>
        </p:sp>
      </p:grpSp>
      <p:sp>
        <p:nvSpPr>
          <p:cNvPr name="TextBox 7" id="7"/>
          <p:cNvSpPr txBox="true"/>
          <p:nvPr/>
        </p:nvSpPr>
        <p:spPr>
          <a:xfrm rot="0">
            <a:off x="1611561" y="2470785"/>
            <a:ext cx="20960428" cy="57550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99"/>
              </a:lnSpc>
            </a:pPr>
            <a:r>
              <a:rPr lang="en-US" sz="3499" b="tru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3. Contract &amp; Billing Dashboard</a:t>
            </a:r>
          </a:p>
          <a:p>
            <a:pPr algn="l" marL="604519" indent="-302260" lvl="1">
              <a:lnSpc>
                <a:spcPts val="4479"/>
              </a:lnSpc>
              <a:buFont typeface="Arial"/>
              <a:buChar char="•"/>
            </a:pPr>
            <a:r>
              <a:rPr lang="en-US" b="true" sz="2799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Visuals Used:</a:t>
            </a:r>
          </a:p>
          <a:p>
            <a:pPr algn="l" marL="604519" indent="-302260" lvl="1">
              <a:lnSpc>
                <a:spcPts val="4479"/>
              </a:lnSpc>
              <a:buFont typeface="Arial"/>
              <a:buChar char="•"/>
            </a:pPr>
            <a:r>
              <a:rPr lang="en-US" b="true" sz="2799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Bar Chart → Churn by Contract Type (Month-to-month, One year, Two year)</a:t>
            </a:r>
          </a:p>
          <a:p>
            <a:pPr algn="l" marL="604519" indent="-302260" lvl="1">
              <a:lnSpc>
                <a:spcPts val="4479"/>
              </a:lnSpc>
              <a:buFont typeface="Arial"/>
              <a:buChar char="•"/>
            </a:pPr>
            <a:r>
              <a:rPr lang="en-US" b="true" sz="2799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Donut Chart → Payment Method distribution</a:t>
            </a:r>
          </a:p>
          <a:p>
            <a:pPr algn="l" marL="604519" indent="-302260" lvl="1">
              <a:lnSpc>
                <a:spcPts val="4479"/>
              </a:lnSpc>
              <a:buFont typeface="Arial"/>
              <a:buChar char="•"/>
            </a:pPr>
            <a:r>
              <a:rPr lang="en-US" b="true" sz="2799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Clustered Column Chart → Avg. Total Charges by Contract Type</a:t>
            </a:r>
          </a:p>
          <a:p>
            <a:pPr algn="l" marL="604519" indent="-302260" lvl="1">
              <a:lnSpc>
                <a:spcPts val="4479"/>
              </a:lnSpc>
              <a:buFont typeface="Arial"/>
              <a:buChar char="•"/>
            </a:pPr>
            <a:r>
              <a:rPr lang="en-US" b="true" sz="2799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Line Chart → Monthly Charges by Payment Method</a:t>
            </a:r>
          </a:p>
          <a:p>
            <a:pPr algn="l" marL="604519" indent="-302260" lvl="1">
              <a:lnSpc>
                <a:spcPts val="4479"/>
              </a:lnSpc>
              <a:buFont typeface="Arial"/>
              <a:buChar char="•"/>
            </a:pPr>
            <a:r>
              <a:rPr lang="en-US" b="true" sz="2799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Matrix/Table → Billing KPIs by Contract Type</a:t>
            </a:r>
          </a:p>
          <a:p>
            <a:pPr algn="l" marL="604519" indent="-302260" lvl="1">
              <a:lnSpc>
                <a:spcPts val="4479"/>
              </a:lnSpc>
              <a:buFont typeface="Arial"/>
              <a:buChar char="•"/>
            </a:pPr>
            <a:r>
              <a:rPr lang="en-US" b="true" sz="2799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Cards → Avg. Monthly Charge, Avg. Total Charge, Churn Rate, Total Churned Customers</a:t>
            </a:r>
          </a:p>
          <a:p>
            <a:pPr algn="l" marL="604519" indent="-302260" lvl="1">
              <a:lnSpc>
                <a:spcPts val="4479"/>
              </a:lnSpc>
              <a:buFont typeface="Arial"/>
              <a:buChar char="•"/>
            </a:pPr>
            <a:r>
              <a:rPr lang="en-US" b="true" sz="2799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Purpose: Analyze billing behavior and contractual patterns influencing churn.</a:t>
            </a:r>
          </a:p>
          <a:p>
            <a:pPr algn="l">
              <a:lnSpc>
                <a:spcPts val="4479"/>
              </a:lnSpc>
            </a:pP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1028700" y="609420"/>
            <a:ext cx="1566889" cy="1590016"/>
          </a:xfrm>
          <a:custGeom>
            <a:avLst/>
            <a:gdLst/>
            <a:ahLst/>
            <a:cxnLst/>
            <a:rect r="r" b="b" t="t" l="l"/>
            <a:pathLst>
              <a:path h="1590016" w="1566889">
                <a:moveTo>
                  <a:pt x="0" y="0"/>
                </a:moveTo>
                <a:lnTo>
                  <a:pt x="1566889" y="0"/>
                </a:lnTo>
                <a:lnTo>
                  <a:pt x="1566889" y="1590017"/>
                </a:lnTo>
                <a:lnTo>
                  <a:pt x="0" y="159001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26613"/>
            <a:ext cx="18288000" cy="10233774"/>
          </a:xfrm>
          <a:custGeom>
            <a:avLst/>
            <a:gdLst/>
            <a:ahLst/>
            <a:cxnLst/>
            <a:rect r="r" b="b" t="t" l="l"/>
            <a:pathLst>
              <a:path h="10233774" w="18288000">
                <a:moveTo>
                  <a:pt x="0" y="0"/>
                </a:moveTo>
                <a:lnTo>
                  <a:pt x="18288000" y="0"/>
                </a:lnTo>
                <a:lnTo>
                  <a:pt x="18288000" y="10233774"/>
                </a:lnTo>
                <a:lnTo>
                  <a:pt x="0" y="1023377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5467" y="0"/>
            <a:ext cx="18303467" cy="10278315"/>
          </a:xfrm>
          <a:custGeom>
            <a:avLst/>
            <a:gdLst/>
            <a:ahLst/>
            <a:cxnLst/>
            <a:rect r="r" b="b" t="t" l="l"/>
            <a:pathLst>
              <a:path h="10278315" w="18303467">
                <a:moveTo>
                  <a:pt x="0" y="0"/>
                </a:moveTo>
                <a:lnTo>
                  <a:pt x="18303467" y="0"/>
                </a:lnTo>
                <a:lnTo>
                  <a:pt x="18303467" y="10278315"/>
                </a:lnTo>
                <a:lnTo>
                  <a:pt x="0" y="1027831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17111"/>
            <a:ext cx="18288000" cy="10252778"/>
          </a:xfrm>
          <a:custGeom>
            <a:avLst/>
            <a:gdLst/>
            <a:ahLst/>
            <a:cxnLst/>
            <a:rect r="r" b="b" t="t" l="l"/>
            <a:pathLst>
              <a:path h="10252778" w="18288000">
                <a:moveTo>
                  <a:pt x="0" y="0"/>
                </a:moveTo>
                <a:lnTo>
                  <a:pt x="18288000" y="0"/>
                </a:lnTo>
                <a:lnTo>
                  <a:pt x="18288000" y="10252778"/>
                </a:lnTo>
                <a:lnTo>
                  <a:pt x="0" y="1025277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3221348" y="9277476"/>
            <a:ext cx="4838096" cy="1009524"/>
            <a:chOff x="0" y="0"/>
            <a:chExt cx="6450794" cy="134603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6450838" cy="1346073"/>
            </a:xfrm>
            <a:custGeom>
              <a:avLst/>
              <a:gdLst/>
              <a:ahLst/>
              <a:cxnLst/>
              <a:rect r="r" b="b" t="t" l="l"/>
              <a:pathLst>
                <a:path h="1346073" w="6450838">
                  <a:moveTo>
                    <a:pt x="0" y="0"/>
                  </a:moveTo>
                  <a:lnTo>
                    <a:pt x="6450838" y="0"/>
                  </a:lnTo>
                  <a:lnTo>
                    <a:pt x="6450838" y="1346073"/>
                  </a:lnTo>
                  <a:lnTo>
                    <a:pt x="0" y="13460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3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2833949" y="410256"/>
            <a:ext cx="15773400" cy="1988344"/>
            <a:chOff x="0" y="0"/>
            <a:chExt cx="21031200" cy="2651126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1031200" cy="2651126"/>
            </a:xfrm>
            <a:custGeom>
              <a:avLst/>
              <a:gdLst/>
              <a:ahLst/>
              <a:cxnLst/>
              <a:rect r="r" b="b" t="t" l="l"/>
              <a:pathLst>
                <a:path h="2651126" w="21031200">
                  <a:moveTo>
                    <a:pt x="0" y="0"/>
                  </a:moveTo>
                  <a:lnTo>
                    <a:pt x="21031200" y="0"/>
                  </a:lnTo>
                  <a:lnTo>
                    <a:pt x="21031200" y="2651126"/>
                  </a:lnTo>
                  <a:lnTo>
                    <a:pt x="0" y="2651126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66675"/>
              <a:ext cx="21031200" cy="271780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7128"/>
                </a:lnSpc>
              </a:pPr>
              <a:r>
                <a:rPr lang="en-US" b="true" sz="6600">
                  <a:solidFill>
                    <a:srgbClr val="FF00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Applications &amp; Recommendations</a:t>
              </a:r>
            </a:p>
          </p:txBody>
        </p:sp>
      </p:grpSp>
      <p:sp>
        <p:nvSpPr>
          <p:cNvPr name="TextBox 7" id="7"/>
          <p:cNvSpPr txBox="true"/>
          <p:nvPr/>
        </p:nvSpPr>
        <p:spPr>
          <a:xfrm rot="0">
            <a:off x="1611561" y="2470785"/>
            <a:ext cx="20960428" cy="35071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99"/>
              </a:lnSpc>
            </a:pPr>
            <a:r>
              <a:rPr lang="en-US" sz="3499" b="tru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Applications</a:t>
            </a:r>
          </a:p>
          <a:p>
            <a:pPr algn="l" marL="604519" indent="-302260" lvl="1">
              <a:lnSpc>
                <a:spcPts val="4479"/>
              </a:lnSpc>
              <a:buFont typeface="Arial"/>
              <a:buChar char="•"/>
            </a:pPr>
            <a:r>
              <a:rPr lang="en-US" b="true" sz="2799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Used by Marketing Teams to identify and target high-risk customers with retention offers.</a:t>
            </a:r>
          </a:p>
          <a:p>
            <a:pPr algn="l" marL="604519" indent="-302260" lvl="1">
              <a:lnSpc>
                <a:spcPts val="4479"/>
              </a:lnSpc>
              <a:buFont typeface="Arial"/>
              <a:buChar char="•"/>
            </a:pPr>
            <a:r>
              <a:rPr lang="en-US" b="true" sz="2799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Helps Customer Support prioritize service improvement for segments with high churn.</a:t>
            </a:r>
          </a:p>
          <a:p>
            <a:pPr algn="l" marL="604519" indent="-302260" lvl="1">
              <a:lnSpc>
                <a:spcPts val="4479"/>
              </a:lnSpc>
              <a:buFont typeface="Arial"/>
              <a:buChar char="•"/>
            </a:pPr>
            <a:r>
              <a:rPr lang="en-US" b="true" sz="2799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Enables Management to track key churn KPIs and make data-driven strategic decisions.</a:t>
            </a:r>
          </a:p>
          <a:p>
            <a:pPr algn="l" marL="604519" indent="-302260" lvl="1">
              <a:lnSpc>
                <a:spcPts val="4479"/>
              </a:lnSpc>
              <a:buFont typeface="Arial"/>
              <a:buChar char="•"/>
            </a:pPr>
            <a:r>
              <a:rPr lang="en-US" b="true" sz="2799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Supports Product Teams in optimizing service bundles and pricing models.</a:t>
            </a:r>
          </a:p>
          <a:p>
            <a:pPr algn="l">
              <a:lnSpc>
                <a:spcPts val="4479"/>
              </a:lnSpc>
            </a:pP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1028700" y="609420"/>
            <a:ext cx="1566889" cy="1590016"/>
          </a:xfrm>
          <a:custGeom>
            <a:avLst/>
            <a:gdLst/>
            <a:ahLst/>
            <a:cxnLst/>
            <a:rect r="r" b="b" t="t" l="l"/>
            <a:pathLst>
              <a:path h="1590016" w="1566889">
                <a:moveTo>
                  <a:pt x="0" y="0"/>
                </a:moveTo>
                <a:lnTo>
                  <a:pt x="1566889" y="0"/>
                </a:lnTo>
                <a:lnTo>
                  <a:pt x="1566889" y="1590017"/>
                </a:lnTo>
                <a:lnTo>
                  <a:pt x="0" y="159001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1611561" y="5713157"/>
            <a:ext cx="20960428" cy="40690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99"/>
              </a:lnSpc>
            </a:pPr>
            <a:r>
              <a:rPr lang="en-US" sz="3499" b="tru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Recommendations</a:t>
            </a:r>
          </a:p>
          <a:p>
            <a:pPr algn="l" marL="604519" indent="-302260" lvl="1">
              <a:lnSpc>
                <a:spcPts val="4479"/>
              </a:lnSpc>
              <a:buFont typeface="Arial"/>
              <a:buChar char="•"/>
            </a:pPr>
            <a:r>
              <a:rPr lang="en-US" b="true" sz="2799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Encourag</a:t>
            </a:r>
            <a:r>
              <a:rPr lang="en-US" b="true" sz="2799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e long-term contracts (1-year or 2-year plans) through discounts and loyalty rewards.</a:t>
            </a:r>
          </a:p>
          <a:p>
            <a:pPr algn="l" marL="604519" indent="-302260" lvl="1">
              <a:lnSpc>
                <a:spcPts val="4479"/>
              </a:lnSpc>
              <a:buFont typeface="Arial"/>
              <a:buChar char="•"/>
            </a:pPr>
            <a:r>
              <a:rPr lang="en-US" b="true" sz="2799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Promote bundled service packages (e.g., Internet + Streaming + Security) to reduce churn.</a:t>
            </a:r>
          </a:p>
          <a:p>
            <a:pPr algn="l" marL="604519" indent="-302260" lvl="1">
              <a:lnSpc>
                <a:spcPts val="4479"/>
              </a:lnSpc>
              <a:buFont typeface="Arial"/>
              <a:buChar char="•"/>
            </a:pPr>
            <a:r>
              <a:rPr lang="en-US" b="true" sz="2799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Improve customer retention by offering personalized plans for senior citizens and high-charge users.</a:t>
            </a:r>
          </a:p>
          <a:p>
            <a:pPr algn="l" marL="604519" indent="-302260" lvl="1">
              <a:lnSpc>
                <a:spcPts val="4479"/>
              </a:lnSpc>
              <a:buFont typeface="Arial"/>
              <a:buChar char="•"/>
            </a:pPr>
            <a:r>
              <a:rPr lang="en-US" b="true" sz="2799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Educate customers about benefits of online backup and device protection services, as these reduce churn.</a:t>
            </a:r>
          </a:p>
          <a:p>
            <a:pPr algn="l" marL="604519" indent="-302260" lvl="1">
              <a:lnSpc>
                <a:spcPts val="4479"/>
              </a:lnSpc>
              <a:buFont typeface="Arial"/>
              <a:buChar char="•"/>
            </a:pPr>
            <a:r>
              <a:rPr lang="en-US" b="true" sz="2799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Monitor monthly charges and payment issues closely for early churn indicators.</a:t>
            </a:r>
          </a:p>
          <a:p>
            <a:pPr algn="l">
              <a:lnSpc>
                <a:spcPts val="4479"/>
              </a:lnSpc>
            </a:pP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3221348" y="9277476"/>
            <a:ext cx="4838096" cy="1009524"/>
            <a:chOff x="0" y="0"/>
            <a:chExt cx="6450794" cy="134603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6450838" cy="1346073"/>
            </a:xfrm>
            <a:custGeom>
              <a:avLst/>
              <a:gdLst/>
              <a:ahLst/>
              <a:cxnLst/>
              <a:rect r="r" b="b" t="t" l="l"/>
              <a:pathLst>
                <a:path h="1346073" w="6450838">
                  <a:moveTo>
                    <a:pt x="0" y="0"/>
                  </a:moveTo>
                  <a:lnTo>
                    <a:pt x="6450838" y="0"/>
                  </a:lnTo>
                  <a:lnTo>
                    <a:pt x="6450838" y="1346073"/>
                  </a:lnTo>
                  <a:lnTo>
                    <a:pt x="0" y="13460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3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2833949" y="410256"/>
            <a:ext cx="15773400" cy="1988344"/>
            <a:chOff x="0" y="0"/>
            <a:chExt cx="21031200" cy="2651126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1031200" cy="2651126"/>
            </a:xfrm>
            <a:custGeom>
              <a:avLst/>
              <a:gdLst/>
              <a:ahLst/>
              <a:cxnLst/>
              <a:rect r="r" b="b" t="t" l="l"/>
              <a:pathLst>
                <a:path h="2651126" w="21031200">
                  <a:moveTo>
                    <a:pt x="0" y="0"/>
                  </a:moveTo>
                  <a:lnTo>
                    <a:pt x="21031200" y="0"/>
                  </a:lnTo>
                  <a:lnTo>
                    <a:pt x="21031200" y="2651126"/>
                  </a:lnTo>
                  <a:lnTo>
                    <a:pt x="0" y="2651126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66675"/>
              <a:ext cx="21031200" cy="271780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7128"/>
                </a:lnSpc>
              </a:pPr>
              <a:r>
                <a:rPr lang="en-US" b="true" sz="6600">
                  <a:solidFill>
                    <a:srgbClr val="FF00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Conclusion</a:t>
              </a:r>
            </a:p>
          </p:txBody>
        </p:sp>
      </p:grpSp>
      <p:sp>
        <p:nvSpPr>
          <p:cNvPr name="TextBox 7" id="7"/>
          <p:cNvSpPr txBox="true"/>
          <p:nvPr/>
        </p:nvSpPr>
        <p:spPr>
          <a:xfrm rot="0">
            <a:off x="1397229" y="2413483"/>
            <a:ext cx="16662215" cy="67252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04519" indent="-302260" lvl="1">
              <a:lnSpc>
                <a:spcPts val="4479"/>
              </a:lnSpc>
              <a:buFont typeface="Arial"/>
              <a:buChar char="•"/>
            </a:pPr>
            <a:r>
              <a:rPr lang="en-US" b="true" sz="2799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The Power BI dashboards provided clear visibility into customer churn behavior and patterns.</a:t>
            </a:r>
          </a:p>
          <a:p>
            <a:pPr algn="l" marL="604519" indent="-302260" lvl="1">
              <a:lnSpc>
                <a:spcPts val="4479"/>
              </a:lnSpc>
              <a:buFont typeface="Arial"/>
              <a:buChar char="•"/>
            </a:pPr>
            <a:r>
              <a:rPr lang="en-US" b="true" sz="2799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Analysis revealed that high monthly charges, month-to-month contracts, and fiber optic services are major churn drivers.</a:t>
            </a:r>
          </a:p>
          <a:p>
            <a:pPr algn="l" marL="604519" indent="-302260" lvl="1">
              <a:lnSpc>
                <a:spcPts val="4479"/>
              </a:lnSpc>
              <a:buFont typeface="Arial"/>
              <a:buChar char="•"/>
            </a:pPr>
            <a:r>
              <a:rPr lang="en-US" b="true" sz="2799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Customers with longer tenure and multiple service subscriptions show greater loyalty and lower churn.</a:t>
            </a:r>
          </a:p>
          <a:p>
            <a:pPr algn="l" marL="604519" indent="-302260" lvl="1">
              <a:lnSpc>
                <a:spcPts val="4479"/>
              </a:lnSpc>
              <a:buFont typeface="Arial"/>
              <a:buChar char="•"/>
            </a:pPr>
            <a:r>
              <a:rPr lang="en-US" b="true" sz="2799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Demographic factors such as senior citizen status and partner/dependent presence also influence churn tendency.</a:t>
            </a:r>
          </a:p>
          <a:p>
            <a:pPr algn="l" marL="604519" indent="-302260" lvl="1">
              <a:lnSpc>
                <a:spcPts val="4479"/>
              </a:lnSpc>
              <a:buFont typeface="Arial"/>
              <a:buChar char="•"/>
            </a:pPr>
            <a:r>
              <a:rPr lang="en-US" b="true" sz="2799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The insights enable the company to design targeted retention strategies and reduce customer loss.</a:t>
            </a:r>
          </a:p>
          <a:p>
            <a:pPr algn="l" marL="604519" indent="-302260" lvl="1">
              <a:lnSpc>
                <a:spcPts val="4479"/>
              </a:lnSpc>
              <a:buFont typeface="Arial"/>
              <a:buChar char="•"/>
            </a:pPr>
            <a:r>
              <a:rPr lang="en-US" b="true" sz="2799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Implementing data-driven actions can help boost customer satisfaction, increase retention rate, and maximize revenue.</a:t>
            </a:r>
          </a:p>
          <a:p>
            <a:pPr algn="l" marL="604519" indent="-302260" lvl="1">
              <a:lnSpc>
                <a:spcPts val="4479"/>
              </a:lnSpc>
              <a:buFont typeface="Arial"/>
              <a:buChar char="•"/>
            </a:pPr>
            <a:r>
              <a:rPr lang="en-US" b="true" sz="2799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Overall, the project demonstrates how Power BI transforms raw data into actionable business insights for strategic decision-making.</a:t>
            </a:r>
          </a:p>
          <a:p>
            <a:pPr algn="l">
              <a:lnSpc>
                <a:spcPts val="4479"/>
              </a:lnSpc>
            </a:pP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1028700" y="609420"/>
            <a:ext cx="1566889" cy="1590016"/>
          </a:xfrm>
          <a:custGeom>
            <a:avLst/>
            <a:gdLst/>
            <a:ahLst/>
            <a:cxnLst/>
            <a:rect r="r" b="b" t="t" l="l"/>
            <a:pathLst>
              <a:path h="1590016" w="1566889">
                <a:moveTo>
                  <a:pt x="0" y="0"/>
                </a:moveTo>
                <a:lnTo>
                  <a:pt x="1566889" y="0"/>
                </a:lnTo>
                <a:lnTo>
                  <a:pt x="1566889" y="1590017"/>
                </a:lnTo>
                <a:lnTo>
                  <a:pt x="0" y="159001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3221348" y="9277476"/>
            <a:ext cx="4838096" cy="1009524"/>
            <a:chOff x="0" y="0"/>
            <a:chExt cx="6450794" cy="134603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6450838" cy="1346073"/>
            </a:xfrm>
            <a:custGeom>
              <a:avLst/>
              <a:gdLst/>
              <a:ahLst/>
              <a:cxnLst/>
              <a:rect r="r" b="b" t="t" l="l"/>
              <a:pathLst>
                <a:path h="1346073" w="6450838">
                  <a:moveTo>
                    <a:pt x="0" y="0"/>
                  </a:moveTo>
                  <a:lnTo>
                    <a:pt x="6450838" y="0"/>
                  </a:lnTo>
                  <a:lnTo>
                    <a:pt x="6450838" y="1346073"/>
                  </a:lnTo>
                  <a:lnTo>
                    <a:pt x="0" y="13460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3"/>
              </a:stretch>
            </a:blip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4324759" y="0"/>
            <a:ext cx="9638483" cy="9780748"/>
          </a:xfrm>
          <a:custGeom>
            <a:avLst/>
            <a:gdLst/>
            <a:ahLst/>
            <a:cxnLst/>
            <a:rect r="r" b="b" t="t" l="l"/>
            <a:pathLst>
              <a:path h="9780748" w="9638483">
                <a:moveTo>
                  <a:pt x="0" y="0"/>
                </a:moveTo>
                <a:lnTo>
                  <a:pt x="9638482" y="0"/>
                </a:lnTo>
                <a:lnTo>
                  <a:pt x="9638482" y="9780748"/>
                </a:lnTo>
                <a:lnTo>
                  <a:pt x="0" y="978074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20999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4880917" y="3050286"/>
            <a:ext cx="8526165" cy="42150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876"/>
              </a:lnSpc>
            </a:pPr>
            <a:r>
              <a:rPr lang="en-US" sz="14700" b="true">
                <a:solidFill>
                  <a:srgbClr val="FFBD59"/>
                </a:solidFill>
                <a:latin typeface="Poppins Ultra-Bold"/>
                <a:ea typeface="Poppins Ultra-Bold"/>
                <a:cs typeface="Poppins Ultra-Bold"/>
                <a:sym typeface="Poppins Ultra-Bold"/>
              </a:rPr>
              <a:t>ANY</a:t>
            </a:r>
          </a:p>
          <a:p>
            <a:pPr algn="ctr">
              <a:lnSpc>
                <a:spcPts val="15876"/>
              </a:lnSpc>
              <a:spcBef>
                <a:spcPct val="0"/>
              </a:spcBef>
            </a:pPr>
            <a:r>
              <a:rPr lang="en-US" b="true" sz="14700">
                <a:solidFill>
                  <a:srgbClr val="FFBD59"/>
                </a:solidFill>
                <a:latin typeface="Poppins Ultra-Bold"/>
                <a:ea typeface="Poppins Ultra-Bold"/>
                <a:cs typeface="Poppins Ultra-Bold"/>
                <a:sym typeface="Poppins Ultra-Bold"/>
              </a:rPr>
              <a:t>Queries?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3221348" y="9277476"/>
            <a:ext cx="4838096" cy="1009524"/>
            <a:chOff x="0" y="0"/>
            <a:chExt cx="6450794" cy="134603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6450838" cy="1346073"/>
            </a:xfrm>
            <a:custGeom>
              <a:avLst/>
              <a:gdLst/>
              <a:ahLst/>
              <a:cxnLst/>
              <a:rect r="r" b="b" t="t" l="l"/>
              <a:pathLst>
                <a:path h="1346073" w="6450838">
                  <a:moveTo>
                    <a:pt x="0" y="0"/>
                  </a:moveTo>
                  <a:lnTo>
                    <a:pt x="6450838" y="0"/>
                  </a:lnTo>
                  <a:lnTo>
                    <a:pt x="6450838" y="1346073"/>
                  </a:lnTo>
                  <a:lnTo>
                    <a:pt x="0" y="13460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3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9699774" y="2776124"/>
            <a:ext cx="6698464" cy="4251475"/>
            <a:chOff x="0" y="0"/>
            <a:chExt cx="8931286" cy="5668634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8931275" cy="5668645"/>
            </a:xfrm>
            <a:custGeom>
              <a:avLst/>
              <a:gdLst/>
              <a:ahLst/>
              <a:cxnLst/>
              <a:rect r="r" b="b" t="t" l="l"/>
              <a:pathLst>
                <a:path h="5668645" w="8931275">
                  <a:moveTo>
                    <a:pt x="0" y="0"/>
                  </a:moveTo>
                  <a:lnTo>
                    <a:pt x="8931275" y="0"/>
                  </a:lnTo>
                  <a:lnTo>
                    <a:pt x="8931275" y="5668645"/>
                  </a:lnTo>
                  <a:lnTo>
                    <a:pt x="0" y="566864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sp>
        <p:nvSpPr>
          <p:cNvPr name="TextBox 6" id="6"/>
          <p:cNvSpPr txBox="true"/>
          <p:nvPr/>
        </p:nvSpPr>
        <p:spPr>
          <a:xfrm rot="0">
            <a:off x="1958325" y="4541500"/>
            <a:ext cx="5309904" cy="10627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920"/>
              </a:lnSpc>
            </a:pPr>
            <a:r>
              <a:rPr lang="en-US" sz="6600">
                <a:solidFill>
                  <a:srgbClr val="C0000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DAG4AV4N9GY</dc:identifier>
  <dcterms:modified xsi:type="dcterms:W3CDTF">2011-08-01T06:04:30Z</dcterms:modified>
  <cp:revision>1</cp:revision>
  <dc:title>Customer Churn Analysis</dc:title>
</cp:coreProperties>
</file>